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开场：LFZ 是一门动态类型、表达式导向的解释型脚本语言，用 Rust 实现、仅依赖标准库。团队 14 个 AI 角色协作，对应课程 8 项交付物、100 分评分矩阵。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先给评审一张得分地图：5 个评分项共 100 分，逐一对应到交付物和可现场核验的证据位置。后面每章都标注对应评分项。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背景：这是程序设计课程作业，要求自创一门语言并端到端交付。我们把它做成 8 项交付物，全部有可核证据。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语言设计章：5 大特色全部落地——管道、合一 struct、富插值、结构化错误、确定性语义。外加 #42 文件前导，这是 LFZ 独有的语言签名，也是强制文件校验。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架构：loader 消费 #42 与编码归一化，lexer 产记号，parser 建带 Span 的 AST，evaluator 树遍历求值，builtins 54 个，cli 负责 run/test/--json 与退出码映射。契约先行让两个开发角色并行。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演示章。两个高光：一是 341 行排序可视化应用，bubble 要 17.9 万次比较而 quick 只要 6473 次；二是现场手写 4 行管道程序瞬间跑通。备选方案见 demo-script.md。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质量章：431 项 Rust 测试、82 项黑盒测试、0 告警、10/10 缺陷闭环。要主动说明 377 与 431 的差异——377 是 P3 验收基线，P5 补测后为 431。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性能章要诚实。启动 LFZ 快 3.6 倍；但大规模纯计算慢 1.2–3.9 倍，两处容器操作超线性到 28.8× / 31.2×。18/18 输出与 Python 一致，说明没有算错，只是慢。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诚实说明性能债：两处 O(N²) 是语义实现方式问题，不是解释器通病；优化点明确、收益高。这是列给 runtime-dev 的路线图。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指南分两册：人向手册 5 分钟上手；AI 向 SKILL 指南写死 #42 铁律、12 错误类、21 条陷阱。app-dev 只凭它从零写出应用，说明指南有效——这是评分项 4 和 5 的交叉证据。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应用是分值最高的 30 分。341 行单文件、5 种算法、字符画可视化。开发记录完整记录了 6 轮迭代和每一次因 SKILL 条目做的决策。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团队与流程：14 个 AI 角色，单一写者规则避免文件冲突，契约先行 + 双轨 TDD，42 条 ADR。Git 上 65 次提交、4 个里程碑标签。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结论：8 项交付物全部落地。也如实列出不足：性能债、无 REPL/模块、测试边界、1 个未修缺陷。未来工作优先级明确。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结束：30 秒总结句——LFZ 完成了一门语言到应用的全链路交付。感谢聆听，欢迎提问，问答预案见 qa-prep.md。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051560"/>
            <a:ext cx="1828800" cy="82296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8288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051560"/>
            <a:ext cx="85953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LFZ 语言与解释器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874519"/>
            <a:ext cx="8595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7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「万物皆值，值皆可流；一种结构，两种面孔」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487168"/>
            <a:ext cx="4754880" cy="32004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697480"/>
            <a:ext cx="85953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6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系统介绍与答辩 · 交付物 8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14 名 opencode AI 开发团队协作完成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0" i="0">
                <a:solidFill>
                  <a:srgbClr val="B9CCDD"/>
                </a:solidFill>
                <a:latin typeface="微软雅黑"/>
                <a:ea typeface="微软雅黑"/>
                <a:cs typeface="微软雅黑"/>
              </a:rPr>
              <a:t>2026-09-27 ｜ 版本 v0.4-app ｜ Rust 实现（仅 std）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9FB8CC"/>
                </a:solidFill>
                <a:latin typeface="微软雅黑"/>
                <a:ea typeface="微软雅黑"/>
                <a:cs typeface="微软雅黑"/>
              </a:rPr>
              <a:t>github.com/NeitherTourRest/lfz-programing-language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9FB8CC"/>
                </a:solidFill>
                <a:latin typeface="微软雅黑"/>
                <a:ea typeface="微软雅黑"/>
                <a:cs typeface="微软雅黑"/>
              </a:rPr>
              <a:t>评分矩阵：解释器 20 ｜ 自动测试 20 ｜ 性能 10 ｜ 语法说明与人/AI 指南 20 ｜ Agent 应用 30（共 100）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交付物 × 评分点 × 可核证据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评分项对照表 —— 得分地图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1092708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3291840"/>
                <a:gridCol w="466344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评分项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分值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对应交付物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可核证据（位置）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解释器实现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解释器源程序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src/（Rust，0 warning，431 测试全绿）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自动测试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完整黑盒测试集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tests/ —— 一键 cargo run -- test：82 PASS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性能测试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性能测试报告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docs/reports/performance.md + benchmarks/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语法说明 + 人/AI 指南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语法文档 + 开发指南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docs/spec/ + docs/guide/ + .opencode/skills/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Agent 应用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应用源码 + 开发记录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app/sortviz.lfz（341 行）+ DEV_RECORD.md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Git 历史 / PPT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版本管理 + 答辩载体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 commits / 4 tags ｜ docs/slides/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数据来源：task-info.md 评分原则；README.md 交付物索引；本次实测命令见质量页/演示脚本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我们要解决什么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背景与目标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577840" cy="4480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课程任务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设计一门解释型通用脚本语言并实现解释器，配套黑盒测试、性能对比、人/AI 开发指南、Agent 应用、Git 历史与答辩 PPT。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LFZ 是什么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动态类型、表达式导向的通用脚本语言；魂为「万物皆值，值皆可流；一种结构，两种面孔」。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7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硬约束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实现语言 = Rust（用户拍板，仅用 std，无第三方依赖）；全程 GIT 版本管理；线下答辩讲解 + 演示。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417320"/>
            <a:ext cx="50292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600200"/>
            <a:ext cx="457200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交付物清单（8 项）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1  语法规则文档  docs/spec/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2  解释器源程序  src/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3  完整黑盒测试集  tests/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4  性能测试报告  docs/reports/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5  开发指南（人+AI）  docs/guide/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6  应用 + 开发记录  app/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7  Git 历史记录  .git/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8  系统介绍 PPT  docs/slides/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1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→ 8 项全部落地，逐一可核。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4（语法说明）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语言设计：五大特色 + #42 仪式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82296" cy="7589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08760"/>
            <a:ext cx="69494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① 管道 |&gt; + _ 占位</a:t>
            </a: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 · spec §4.3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F# 式 data-last：xs |&gt; map(f) |&gt; sum()；_ 精确插位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31720"/>
            <a:ext cx="7315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82296" cy="7589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77439"/>
            <a:ext cx="69494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② 合一 struct</a:t>
            </a: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 · spec §1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对象面孔(.字段/方法) + 字典面孔(["键"])，同源存储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00400"/>
            <a:ext cx="7315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82296" cy="7589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69494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③ 富字符串插值</a:t>
            </a: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 · spec §2.8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"${expr}" + 格式说明符 ${x:&gt;6} / ${f:.2f} / ${n:05d}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69080"/>
            <a:ext cx="7315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69080"/>
            <a:ext cx="82296" cy="7589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14800"/>
            <a:ext cx="69494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④ 结构化错误 + assert/check</a:t>
            </a: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 · spec §8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12 错误类 + 中文消息 + 位置 + traceback；check 非致命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37760"/>
            <a:ext cx="73152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937760"/>
            <a:ext cx="82296" cy="7589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69494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4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⑤ 确定性语义「无魔法」</a:t>
            </a: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 · spec §1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无 truthiness / 无隐式转换 / i64 溢出即错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1463040"/>
            <a:ext cx="3364992" cy="4206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45920"/>
            <a:ext cx="292608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#42 —— 文件前导铁律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每个 .lfz 文件第一行必须恰好是 #42 + 换行。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设计动机：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仪式感与辨识度：独一无二的语言签名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强制文件校验：缺失即 CosmosAnswerError，退出码 2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无变体：# 42 / #42␣ / ##42 全部非法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3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→ 「你忘记了宇宙的答案」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数据来源：docs/spec/syntax.md（§1 语言身份、§2.2 #42、§2.8 插值、§4.3 管道）；docs/spec/semantics.md §8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1（解释器实现）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解释器架构（Rust，仅 std）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607" y="160020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6607" y="167335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loader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UTF-8/BOM/#42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33191" y="1924812"/>
            <a:ext cx="347472" cy="219456"/>
          </a:xfrm>
          <a:prstGeom prst="rightArrow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5527" y="160020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5527" y="167335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lexer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记号流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22111" y="1924812"/>
            <a:ext cx="347472" cy="219456"/>
          </a:xfrm>
          <a:prstGeom prst="rightArrow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24447" y="160020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4447" y="167335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ast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全节点带 Span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11031" y="1924812"/>
            <a:ext cx="347472" cy="219456"/>
          </a:xfrm>
          <a:prstGeom prst="rightArrow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13367" y="160020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3367" y="167335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parser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递归下降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6607" y="27889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607" y="286207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value / env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enum Value + Rc&lt;RefCell&gt;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133191" y="3113532"/>
            <a:ext cx="347472" cy="219456"/>
          </a:xfrm>
          <a:prstGeom prst="rightArrow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35527" y="27889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5527" y="286207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evaluator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树遍历求值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922111" y="3113532"/>
            <a:ext cx="347472" cy="219456"/>
          </a:xfrm>
          <a:prstGeom prst="rightArrow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4447" y="27889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4447" y="286207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builtins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54 个内置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11031" y="3113532"/>
            <a:ext cx="347472" cy="219456"/>
          </a:xfrm>
          <a:prstGeom prst="rightArrow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13367" y="2788920"/>
            <a:ext cx="23317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3367" y="2862072"/>
            <a:ext cx="2331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 i="0">
                <a:solidFill>
                  <a:srgbClr val="1B3A5C"/>
                </a:solidFill>
                <a:latin typeface="Consolas"/>
                <a:ea typeface="Consolas"/>
                <a:cs typeface="Consolas"/>
              </a:rPr>
              <a:t>cli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run / test / --json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069080"/>
            <a:ext cx="8503920" cy="731520"/>
          </a:xfrm>
          <a:prstGeom prst="rect">
            <a:avLst/>
          </a:prstGeom>
          <a:solidFill>
            <a:srgbClr val="EBF3FA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4114800"/>
            <a:ext cx="8138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契约先行：</a:t>
            </a: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docs/spec/interface-contract.md 冻结 AST / 求值接口 / 错误模型，core-dev 与 runtime-dev 并行开发。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29200"/>
            <a:ext cx="1097280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双轨 TDD：Rust 单元/集成测试（431 项）+ LFZ 黑盒测试（82 用例）所有权分离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求值在专用大栈线程执行，栈溢出转为结构化 RecursionError（&gt;10000 层）</a:t>
            </a:r>
          </a:p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执行链：load → lex → parse → eval；每条错误携带最小 AST 节点 Span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数据来源：src/{loader,lexer,ast,parser,value,env,evaluator,builtins,cli}.rs；docs/spec/interface-contract.md；PROJECT_STATE.md §5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高光时刻（详见 demo-script.md）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现场演示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① 应用：app/sortviz.lfz（341 行 / 5 种排序算法 / 字符画可视化）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10972800" cy="196596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6070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50" b="1" i="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PS&gt; cargo run --quiet -- run app/sortviz.lfz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数据摘要: min=8  max=91  sum=371  n=8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bubble     比较=179510  交换= 93045  步数=179510  [校验通过]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quick      比较=  6473  交换=  2433  步数=  6473  [校验通过]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自测 150 次排序，失败 0 次  ·  == 完成：5 种算法全部通过正确性校验 ==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1" i="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EXIT=0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② 现场手写小程序：管道 data-last + lambda + 富插值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297680"/>
            <a:ext cx="10972800" cy="132588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89120"/>
            <a:ext cx="106070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#42  /  let xs = [1,2,3,4,5,6,7,8,9,10]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let ys = xs |&gt; filter((x) =&gt; x % 2 == 0) |&gt; map((x) =&gt; x * x)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50" b="0" i="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print("evens^2 = ${ys}")    →  evens^2 = [4, 16, 36, 64, 100]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数据来源：本次实测（2026-09-27）：cargo run --quiet -- run app/sortviz.lfz → EXIT=0；手写小程序 → sum=220 n=5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1 + 2（测试）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质量保证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2651760" cy="7315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237744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0" b="1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431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Rust 单元/集成测试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0 failed / 0 ignored
361 库 + 42 + 16 + 12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4173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2651760" cy="7315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36192"/>
            <a:ext cx="237744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0" b="1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82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LFZ 黑盒用例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82 PASS / 0 FAIL / 0 ERROR
一键 cargo run -- test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2651760" cy="73152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36192"/>
            <a:ext cx="237744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0" b="1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构建告警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cargo build
0 warning / 0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41732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06840" y="1417320"/>
            <a:ext cx="265176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36192"/>
            <a:ext cx="237744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10/10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5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P3.11 验收缺陷闭环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3🔴 + 4🟡 + 2🟢 + 1 规范
0 新增回归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91840"/>
            <a:ext cx="7498079" cy="274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验收轨迹（P3.11 三轮独立验收）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rev.1  FAIL  →  rev.2  CONCERNS  →  rev.3  PASS（可打 v0.2.0）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10 项缺陷全部闭环：3 严重 + 4 中等 + 2 轻微 + 1 规范侧，0 新增回归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覆盖完备性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内置函数：interface-contract §10.7 全表 54/54 覆盖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错误模型：§8.1 的 12 类（11 黑盒 + IOError 由 Rust 单测）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B9770E"/>
                </a:solidFill>
                <a:latin typeface="微软雅黑"/>
                <a:ea typeface="微软雅黑"/>
                <a:cs typeface="微软雅黑"/>
              </a:rPr>
              <a:t>· 诚实边界：详见 qa-prep.md —— ;; 文本 / 错误消息 / span / input 不可黑盒断言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417320"/>
            <a:ext cx="3364992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554480"/>
            <a:ext cx="301752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质量有据可查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2E86C1"/>
                </a:solidFill>
                <a:latin typeface="Consolas"/>
                <a:ea typeface="Consolas"/>
                <a:cs typeface="Consolas"/>
              </a:rPr>
              <a:t>tests/REPORT.md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黑盒测试报告（82 用例构成）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2E86C1"/>
                </a:solidFill>
                <a:latin typeface="Consolas"/>
                <a:ea typeface="Consolas"/>
                <a:cs typeface="Consolas"/>
              </a:rPr>
              <a:t>tests/coverage-matrix.md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逐特性 / 逐内置覆盖矩阵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2E86C1"/>
                </a:solidFill>
                <a:latin typeface="Consolas"/>
                <a:ea typeface="Consolas"/>
                <a:cs typeface="Consolas"/>
              </a:rPr>
              <a:t>docs/reports/P3-verification.md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独立验收报告 + 缺陷清算表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注：README 上的 377 是 P3 基线；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0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P5 后台测试增至 431（本页实测）。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数据来源：cargo test → 431 passed / 0 failed / 0 ignored（本次实测）；cargo run -- test → 82/82；README.md + P3-verification.md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3（10 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性能：LFZ vs Python（真实倍数，不美化）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417320"/>
          <a:ext cx="69494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051560"/>
                <a:gridCol w="1874519"/>
                <a:gridCol w="13716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负载（基准）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最大规模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比值 LFZ/Python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63500" marR="50800" marT="12700" marB="12700" anchor="ctr">
                    <a:solidFill>
                      <a:srgbClr val="1B3A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启动（noop）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0.28×（LFZ 快 3.6×）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11.67 ms vs 42.34 ms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数值循环 numeric_loop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10⁶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1.24×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净执行慢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函数调用 function_calls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10⁶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per-call 开销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递归 recursion_fib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n=28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3.87×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递归越深越明显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数组内建 array_builtins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10⁵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1.20×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重活由 Rust 原生承担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结构体 struct_ops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40000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28.80×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超线性（O(N²)）</a:t>
                      </a:r>
                    </a:p>
                  </a:txBody>
                  <a:tcPr marL="63500" marR="50800" marT="12700" marB="12700" anchor="ctr">
                    <a:solidFill>
                      <a:srgbClr val="EBF3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字符串 string_ops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30000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31.17×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C3E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超线性（O(N²)）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63840" y="1417320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38328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诚实结论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小规模比值 &lt; 1 全部来自启动优势，不是计算更快。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公平对照下，大规模纯执行 LFZ 从未快于 CPython 3.13。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计算类慢 1.2×–3.9×，同数量级。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· 两处 O(N²) 拖垮外围：struct / string。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· 输出一致性 18/18：LFZ stdout == Python stdout，无算错。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成因（perf-engineer 分析）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树遍历求值 + 运行时按名字查链（无 resolver）；对照 CPython 3.13 特化字节码 VM。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数据来源：docs/reports/performance.md（2026-09-27，release 构建，warmup 2 + 5 轮取中位数）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3 · 已知性能债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性能根因与优化方向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39496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502920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两处 O(N²) —— 最重要发现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push 等「返回新容器」内置整表拷贝 → 反复 push 建数组为 O(N²)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struct 字符串键写/读为线性扫描（无哈希索引）→ O(N²)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· 探针定位：string_ops 全部耗时来自 push 循环；struct 写、读两段皆超线性。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394960" cy="73152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54480"/>
            <a:ext cx="502920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50" b="1" i="0">
                <a:solidFill>
                  <a:srgbClr val="B9770E"/>
                </a:solidFill>
                <a:latin typeface="微软雅黑"/>
                <a:ea typeface="微软雅黑"/>
                <a:cs typeface="微软雅黑"/>
              </a:rPr>
              <a:t>普遍性结构开销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树遍历 + 每次变量读取沿作用域链按名字查找（无 resolver）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每次函数调用新建帧/环境并绑定参数名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递归/调用越密，固定 per-call 开销占比越高（fib 3.87×）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10972800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优化路线（按优先级，收益高 → 结构性）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① 修超线性（收益最大）</a:t>
            </a: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　push 走 copy-on-write / 持久化向量（未共享时原地 O(1)）；struct 数据面改 IndexMap（HashMap&lt;key→slot&gt; + 顺序数组），keys() 保持字节序。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② 引入 resolver / 槽位缓存</a:t>
            </a: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　解析期为标识符算 (深度, 槽位)，求值期用下标访问；参数绑定用槽位数组；复用调用帧。直接改善 B1/B2/B3。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5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③ 中长期：栈式/寄存器式字节码 VM</a:t>
            </a: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　在 ①② 收益见顶后再评估；配合少量特化有望接近 CPython。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1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预期：修复 ①② 后可把最大规模比值从「数十倍」拉回个位数，甚至接近 CPython。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数据来源：docs/reports/performance.md §6（瓶颈分析与优化建议，给 runtime-dev）；本页为分析性外推，非已实现数据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4（20 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开发指南：面向人 + 面向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394960" cy="73152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72768"/>
            <a:ext cx="502920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面向人类（docs/guide/）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README.md　5 分钟上手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tutorial.md　跟着例子从零写程序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reference.md　语法 / 优先级 / 54 内置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errors.md　12 类错误 / Traceback / 退出码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testing.md　写测试 / 覆盖矩阵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事实源：docs/spec/（冻结 v1），手册只讲解不定义新语法。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17320"/>
            <a:ext cx="5394960" cy="42062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502920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面向 AI（docs/guide/ai/ + skill）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.opencode/skills/lfz-programming/SKILL.md　机读版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置顶铁律 #42 ｜ 12 错误类清单 ｜ 语法速查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21 条「AI 最易踩」陷阱（与 Python/C 的刻意差异）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54 内置 data-last 约定 ｜ 提示模板 ｜ 交付前自检清单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实测闭环（评分项 4×5 交叉证据）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app-dev 只凭 SKILL 从零写出 341 行应用，首次真跑即通过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§8 自检清单在运行前拦下唯一会致错的缺陷（未定义变量）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· 反馈：指南准确、够用；补 1 条「无模块/参数」声明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数据来源：docs/guide/*.md；docs/guide/ai/README.md；.opencode/skills/lfz-programming/SKILL.md；app/DEV_RECORD.md §4/§8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评分项 5（30 分，权重最高）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Agent 应用：排序算法可视化 sortviz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23774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341</a:t>
            </a:r>
            <a:r>
              <a:rPr sz="11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行 LFZ 源码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23774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290</a:t>
            </a:r>
            <a:r>
              <a:rPr sz="11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有效行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63040"/>
            <a:ext cx="23774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5</a:t>
            </a:r>
            <a:r>
              <a:rPr sz="11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排序算法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417320"/>
            <a:ext cx="26517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463040"/>
            <a:ext cx="23774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150</a:t>
            </a:r>
            <a:r>
              <a:rPr sz="115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  次属性自测 0 失败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722376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功能与设计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纯 LFZ 单文件：生成可复现随机数组（seed），5 算法排序，逐帧打印 # 字符条形图，统计比较/交换/步数，assert + 与内置 sort() 对比校验。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用上全部 5 特色：管道 |&gt;（9 处）、struct Stats 计数器（self.cmp += 1）、富插值格式说明符、check/assert、;; 变量 dump。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引用语义：排序在 slice() 出的副本上原地交换，不污染调用方数据。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开发记录（app/DEV_RECORD.md）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6 轮迭代：架构选型 → 首版 → 实跑观感 → 特性强化 → 边界探针 → 模式验证回归。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逐条记录因 SKILL 哪一条做了什么决策（评分项 4×5 交叉证据）。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560320"/>
            <a:ext cx="3566160" cy="324612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697480"/>
            <a:ext cx="3200400" cy="2971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算法对比一句话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同一个 600 元数组：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 i="0">
                <a:solidFill>
                  <a:srgbClr val="FFD9A0"/>
                </a:solidFill>
                <a:latin typeface="Consolas"/>
                <a:ea typeface="Consolas"/>
                <a:cs typeface="Consolas"/>
              </a:rPr>
              <a:t>bubble 比较 179510 次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250" b="1" i="0">
                <a:solidFill>
                  <a:srgbClr val="7EE787"/>
                </a:solidFill>
                <a:latin typeface="Consolas"/>
                <a:ea typeface="Consolas"/>
                <a:cs typeface="Consolas"/>
              </a:rPr>
              <a:t>quick  比较   6473 次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LFZ 用管道 + 结构体 + 字符画，把算法行为直接跑给人看。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数据来源：app/README.md；app/DEV_RECORD.md §0/§3/§6；本次实测 EXIT=0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14 角色 · 单一写者 · ADR · Git 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团队与工程流程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72768"/>
            <a:ext cx="502920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14 角色 AI 开发团队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team-lead 唯一用户接口与调度者；其余 13 名 agent 禁止互相调度。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需求 / 语言架构 / 核心 / 运行时 / 工具链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测试 / 性能 / 验证 / 文档 / AI 赋能 / 应用 / 发布 / 演示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单一写者规则（防冲突）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TEAM_BOARD / PROJECT_STATE：team-lead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REQUIREMENTS：requirements-analyst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DECISIONS：任何 agent 只追加；agents/&lt;自己&gt;/ 归自己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72768"/>
            <a:ext cx="5029200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工程纪律与流程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契约先行：先冻结 docs/spec/interface-contract.md 再并行实现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双轨 TDD：Rust 单测 + LFZ 黑盒，所有权分离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ADR 流程：重大决策先请示用户，记录 42 条决策（DECISIONS.md）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证据文化：声称完成必须附文件路径与命令结果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Git 版本纪律（release-manager）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65 次提交 ｜ 4 个里程碑标签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1" i="0">
                <a:solidFill>
                  <a:srgbClr val="2E86C1"/>
                </a:solidFill>
                <a:latin typeface="Consolas"/>
                <a:ea typeface="Consolas"/>
                <a:cs typeface="Consolas"/>
              </a:rPr>
              <a:t>· v0.1.0 → v0.2.0 → v0.3-tested → v0.4-app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每里程碑原子提交 + 附注标签 + 实时更新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数据来源：AGENTS.md（团队宪法）；.opencode/team/DECISIONS.md（42 条）；git log / git tag（本次实测）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成果对照 8 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26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结论与展望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133856"/>
            <a:ext cx="118872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428232"/>
            <a:ext cx="10058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·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LFZ 语言与解释器 · 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486400" cy="4389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我们做成了什么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一门有辨识度的语言：5 特色全落地 + #42 签名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一个端到端可用的解释器：Rust/std，431 测试全绿，0 告警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一个全覆盖的黑盒测试集：82 用例一键 runner，10/10 缺陷闭环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一份诚实的性能报告：真实倍数 + 根因 + 优化路线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一套经实测的 AI 编程指南：支撑 341 行应用一次跑通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200" b="1" i="0">
                <a:solidFill>
                  <a:srgbClr val="1E8449"/>
                </a:solidFill>
                <a:latin typeface="微软雅黑"/>
                <a:ea typeface="微软雅黑"/>
                <a:cs typeface="微软雅黑"/>
              </a:rPr>
              <a:t>· 8 项交付物全部落地，均可核。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150" b="1">
                <a:solidFill>
                  <a:srgbClr val="B9770E"/>
                </a:solidFill>
                <a:latin typeface="微软雅黑"/>
                <a:ea typeface="微软雅黑"/>
                <a:cs typeface="微软雅黑"/>
              </a:rPr>
              <a:t>· P9 独立验收（verifier）：8 项中 7 项达标；总评 CONCERNS——无阻塞项，2 项待闭合（中等缺陷 bug-01 + PPT 入库）。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3035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36192"/>
            <a:ext cx="4937760" cy="4114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500" b="1" i="0">
                <a:solidFill>
                  <a:srgbClr val="B9770E"/>
                </a:solidFill>
                <a:latin typeface="微软雅黑"/>
                <a:ea typeface="微软雅黑"/>
                <a:cs typeface="微软雅黑"/>
              </a:rPr>
              <a:t>诚实面对不足（后续工作）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性能：两处 O(N²)（push / struct 键）与无 resolver，已将优化路线交 runtime-dev。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语法/工具：暂无 REPL、模块系统、CLI 参数与文件读写。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测试边界：;; 文本 / 错误消息 / span / input 不作黑盒断言（由 Rust 单测覆盖）。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C3E50"/>
                </a:solidFill>
                <a:latin typeface="微软雅黑"/>
                <a:ea typeface="微软雅黑"/>
                <a:cs typeface="微软雅黑"/>
              </a:rPr>
              <a:t>· 已知 1 个未修缺陷：方括号取方法值再调用时不绑定 self（已提交，非阻塞）。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400" b="1" i="0">
                <a:solidFill>
                  <a:srgbClr val="1B3A5C"/>
                </a:solidFill>
                <a:latin typeface="微软雅黑"/>
                <a:ea typeface="微软雅黑"/>
                <a:cs typeface="微软雅黑"/>
              </a:rPr>
              <a:t>未来工作优先级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sz="1150" b="0" i="0">
                <a:solidFill>
                  <a:srgbClr val="2E86C1"/>
                </a:solidFill>
                <a:latin typeface="微软雅黑"/>
                <a:ea typeface="微软雅黑"/>
                <a:cs typeface="微软雅黑"/>
              </a:rPr>
              <a:t>resolver / COW / IndexMap → 字节码 VM → REPL 与模块 → 更多数学内置。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sz="900" b="0" i="1">
                <a:solidFill>
                  <a:srgbClr val="6B7B8C"/>
                </a:solidFill>
                <a:latin typeface="微软雅黑"/>
                <a:ea typeface="微软雅黑"/>
                <a:cs typeface="微软雅黑"/>
              </a:rPr>
              <a:t>数据来源：PROJECT_STATE.md；README.md；tests/REPORT.md §7；docs/reports/performance.md §6/§7；docs/reports/P9-verification.md（CONCERNS）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LFZ ——「万物皆值，值皆可流」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一门语言、一个解释器、一套测试、一份诚实的性能报告、一个 341 行的应用。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600" b="0" i="0">
                <a:solidFill>
                  <a:srgbClr val="D6E4F0"/>
                </a:solidFill>
                <a:latin typeface="微软雅黑"/>
                <a:ea typeface="微软雅黑"/>
                <a:cs typeface="微软雅黑"/>
              </a:rPr>
              <a:t>14 名 AI 角色协作，8 项交付物全部落地。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0" y="4663440"/>
            <a:ext cx="2286000" cy="41148"/>
          </a:xfrm>
          <a:prstGeom prst="rect">
            <a:avLst/>
          </a:prstGeom>
          <a:solidFill>
            <a:srgbClr val="D4AC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D4AC0D"/>
                </a:solidFill>
                <a:latin typeface="微软雅黑"/>
                <a:ea typeface="微软雅黑"/>
                <a:cs typeface="微软雅黑"/>
              </a:rPr>
              <a:t>感谢聆听，欢迎提问。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sz="1200" b="0" i="0">
                <a:solidFill>
                  <a:srgbClr val="9FB8CC"/>
                </a:solidFill>
                <a:latin typeface="Consolas"/>
                <a:ea typeface="Consolas"/>
                <a:cs typeface="Consolas"/>
              </a:rPr>
              <a:t>github.com/NeitherTourRest/lfz-programing-language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